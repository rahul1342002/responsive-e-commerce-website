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79" r:id="rId4"/>
    <p:sldId id="257" r:id="rId5"/>
    <p:sldId id="258" r:id="rId6"/>
    <p:sldId id="259" r:id="rId7"/>
    <p:sldId id="264" r:id="rId8"/>
    <p:sldId id="260" r:id="rId9"/>
    <p:sldId id="261" r:id="rId10"/>
    <p:sldId id="262" r:id="rId11"/>
    <p:sldId id="263" r:id="rId12"/>
    <p:sldId id="265" r:id="rId13"/>
    <p:sldId id="266" r:id="rId14"/>
    <p:sldId id="267" r:id="rId15"/>
    <p:sldId id="268" r:id="rId16"/>
    <p:sldId id="269" r:id="rId17"/>
    <p:sldId id="270" r:id="rId18"/>
    <p:sldId id="298" r:id="rId19"/>
    <p:sldId id="271" r:id="rId20"/>
    <p:sldId id="277" r:id="rId21"/>
    <p:sldId id="278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305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A126-26EE-4E87-B91E-C3EAD2F18E9D}" type="datetimeFigureOut">
              <a:rPr lang="en-US" smtClean="0"/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3EBB4-4A4E-4D7E-A188-4B70446E456D}" type="slidenum">
              <a:rPr lang="en-US" smtClean="0"/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A126-26EE-4E87-B91E-C3EAD2F18E9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3EBB4-4A4E-4D7E-A188-4B70446E456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415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A126-26EE-4E87-B91E-C3EAD2F18E9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3EBB4-4A4E-4D7E-A188-4B70446E456D}" type="slidenum">
              <a:rPr lang="en-US" smtClean="0"/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A126-26EE-4E87-B91E-C3EAD2F18E9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3EBB4-4A4E-4D7E-A188-4B70446E456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135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135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065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065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A126-26EE-4E87-B91E-C3EAD2F18E9D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3EBB4-4A4E-4D7E-A188-4B70446E456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A126-26EE-4E87-B91E-C3EAD2F18E9D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3EBB4-4A4E-4D7E-A188-4B70446E456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A126-26EE-4E87-B91E-C3EAD2F18E9D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3EBB4-4A4E-4D7E-A188-4B70446E456D}" type="slidenum">
              <a:rPr lang="en-US" smtClean="0"/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A126-26EE-4E87-B91E-C3EAD2F18E9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3EBB4-4A4E-4D7E-A188-4B70446E456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A126-26EE-4E87-B91E-C3EAD2F18E9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3EBB4-4A4E-4D7E-A188-4B70446E456D}" type="slidenum">
              <a:rPr lang="en-US" smtClean="0"/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210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A126-26EE-4E87-B91E-C3EAD2F18E9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3EBB4-4A4E-4D7E-A188-4B70446E456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A126-26EE-4E87-B91E-C3EAD2F18E9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3EBB4-4A4E-4D7E-A188-4B70446E456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fld id="{1914A126-26EE-4E87-B91E-C3EAD2F18E9D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</a:lstStyle>
          <a:p>
            <a:fld id="{4243EBB4-4A4E-4D7E-A188-4B70446E456D}" type="slidenum">
              <a:rPr lang="en-US" smtClean="0"/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65760" indent="-283210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 panose="05020102010507070707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490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 panose="020B0604030504040204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7095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 panose="05020102010507070707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990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575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8945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425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6800" y="304800"/>
            <a:ext cx="7772400" cy="1472184"/>
          </a:xfrm>
        </p:spPr>
        <p:txBody>
          <a:bodyPr>
            <a:normAutofit/>
          </a:bodyPr>
          <a:lstStyle/>
          <a:p>
            <a:r>
              <a:rPr lang="en-US" dirty="0" smtClean="0"/>
              <a:t> Multi-Page Responsive Website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 </a:t>
            </a:r>
            <a:endParaRPr lang="en-US" dirty="0"/>
          </a:p>
        </p:txBody>
      </p:sp>
      <p:pic>
        <p:nvPicPr>
          <p:cNvPr id="3074" name="Picture 2" descr="E:\top-10-benefits-of-responsive-website-design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905000"/>
            <a:ext cx="714375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Contents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dirty="0">
                <a:solidFill>
                  <a:schemeClr val="tx1"/>
                </a:solidFill>
                <a:sym typeface="+mn-ea"/>
              </a:rPr>
              <a:t>What is Responsive Web Design?</a:t>
            </a:r>
            <a:endParaRPr lang="en-US" dirty="0">
              <a:solidFill>
                <a:schemeClr val="tx1"/>
              </a:solidFill>
              <a:sym typeface="+mn-ea"/>
            </a:endParaRPr>
          </a:p>
          <a:p>
            <a:r>
              <a:rPr lang="en-US" dirty="0">
                <a:solidFill>
                  <a:schemeClr val="tx1"/>
                </a:solidFill>
                <a:sym typeface="+mn-ea"/>
              </a:rPr>
              <a:t>Why You </a:t>
            </a:r>
            <a:r>
              <a:rPr lang="en-US" dirty="0" smtClean="0">
                <a:solidFill>
                  <a:schemeClr val="tx1"/>
                </a:solidFill>
                <a:sym typeface="+mn-ea"/>
              </a:rPr>
              <a:t>Need </a:t>
            </a:r>
            <a:r>
              <a:rPr lang="en-US" dirty="0" err="1" smtClean="0">
                <a:solidFill>
                  <a:schemeClr val="tx1"/>
                </a:solidFill>
                <a:sym typeface="+mn-ea"/>
              </a:rPr>
              <a:t>ResponsiveWebsite</a:t>
            </a:r>
            <a:r>
              <a:rPr lang="en-US" dirty="0" smtClean="0">
                <a:solidFill>
                  <a:schemeClr val="tx1"/>
                </a:solidFill>
                <a:sym typeface="+mn-ea"/>
              </a:rPr>
              <a:t>?</a:t>
            </a:r>
            <a:endParaRPr lang="en-US" dirty="0" smtClean="0">
              <a:solidFill>
                <a:schemeClr val="tx1"/>
              </a:solidFill>
              <a:sym typeface="+mn-ea"/>
            </a:endParaRPr>
          </a:p>
          <a:p>
            <a:r>
              <a:rPr lang="en-US" dirty="0">
                <a:solidFill>
                  <a:schemeClr val="tx1"/>
                </a:solidFill>
                <a:sym typeface="+mn-ea"/>
              </a:rPr>
              <a:t>Adapting the Appropriate </a:t>
            </a:r>
            <a:r>
              <a:rPr lang="en-US" dirty="0" smtClean="0">
                <a:solidFill>
                  <a:schemeClr val="tx1"/>
                </a:solidFill>
                <a:sym typeface="+mn-ea"/>
              </a:rPr>
              <a:t>Layout</a:t>
            </a:r>
            <a:endParaRPr lang="en-US" dirty="0" smtClean="0">
              <a:solidFill>
                <a:schemeClr val="tx1"/>
              </a:solidFill>
              <a:sym typeface="+mn-ea"/>
            </a:endParaRPr>
          </a:p>
          <a:p>
            <a:r>
              <a:rPr lang="en-US" dirty="0">
                <a:solidFill>
                  <a:schemeClr val="tx1"/>
                </a:solidFill>
                <a:sym typeface="+mn-ea"/>
              </a:rPr>
              <a:t>Major Components of A Responsive Website</a:t>
            </a:r>
            <a:endParaRPr lang="en-US" dirty="0">
              <a:solidFill>
                <a:schemeClr val="tx1"/>
              </a:solidFill>
              <a:sym typeface="+mn-ea"/>
            </a:endParaRPr>
          </a:p>
          <a:p>
            <a:r>
              <a:rPr lang="en-US" dirty="0">
                <a:solidFill>
                  <a:schemeClr val="tx1"/>
                </a:solidFill>
                <a:sym typeface="+mn-ea"/>
              </a:rPr>
              <a:t>Advantages to the </a:t>
            </a:r>
            <a:r>
              <a:rPr lang="en-US" dirty="0" smtClean="0">
                <a:solidFill>
                  <a:schemeClr val="tx1"/>
                </a:solidFill>
                <a:sym typeface="+mn-ea"/>
              </a:rPr>
              <a:t>Users</a:t>
            </a:r>
            <a:endParaRPr lang="en-US" dirty="0" smtClean="0">
              <a:solidFill>
                <a:schemeClr val="tx1"/>
              </a:solidFill>
              <a:sym typeface="+mn-ea"/>
            </a:endParaRPr>
          </a:p>
          <a:p>
            <a:r>
              <a:rPr lang="en-US" dirty="0">
                <a:solidFill>
                  <a:schemeClr val="tx1"/>
                </a:solidFill>
                <a:sym typeface="+mn-ea"/>
              </a:rPr>
              <a:t>Advantages to the Web Designers</a:t>
            </a:r>
            <a:endParaRPr lang="en-US" dirty="0">
              <a:solidFill>
                <a:schemeClr val="tx1"/>
              </a:solidFill>
              <a:sym typeface="+mn-ea"/>
            </a:endParaRPr>
          </a:p>
          <a:p>
            <a:r>
              <a:rPr lang="en-US" dirty="0">
                <a:solidFill>
                  <a:schemeClr val="tx1"/>
                </a:solidFill>
                <a:sym typeface="+mn-ea"/>
              </a:rPr>
              <a:t>Conclusion</a:t>
            </a:r>
            <a:endParaRPr lang="en-US" dirty="0">
              <a:solidFill>
                <a:schemeClr val="tx1"/>
              </a:solidFill>
              <a:sym typeface="+mn-ea"/>
            </a:endParaRPr>
          </a:p>
          <a:p>
            <a:r>
              <a:rPr lang="en-US" dirty="0">
                <a:solidFill>
                  <a:schemeClr val="tx1"/>
                </a:solidFill>
                <a:sym typeface="+mn-ea"/>
              </a:rPr>
              <a:t>My Design </a:t>
            </a:r>
            <a:endParaRPr lang="en-US" dirty="0">
              <a:solidFill>
                <a:schemeClr val="tx1"/>
              </a:solidFill>
              <a:sym typeface="+mn-ea"/>
            </a:endParaRPr>
          </a:p>
          <a:p>
            <a:endParaRPr lang="en-US" dirty="0">
              <a:solidFill>
                <a:schemeClr val="tx2"/>
              </a:solidFill>
            </a:endParaRPr>
          </a:p>
          <a:p>
            <a:pPr>
              <a:buNone/>
            </a:pPr>
            <a:endParaRPr lang="en-US" dirty="0" smtClean="0">
              <a:solidFill>
                <a:schemeClr val="tx2"/>
              </a:solidFill>
              <a:sym typeface="+mn-ea"/>
            </a:endParaRPr>
          </a:p>
          <a:p>
            <a:pPr marL="82550" indent="0">
              <a:buNone/>
            </a:pP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457200"/>
            <a:ext cx="7467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What is Responsive Web Design?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1143000"/>
            <a:ext cx="6781800" cy="5029200"/>
          </a:xfrm>
        </p:spPr>
        <p:txBody>
          <a:bodyPr>
            <a:normAutofit fontScale="77500" lnSpcReduction="20000"/>
          </a:bodyPr>
          <a:lstStyle/>
          <a:p>
            <a:pPr marL="8255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Responsive Web Designing (RWD) is a process of designing a single website to be used and compatible on different  portable or handy electronic devices.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Also known as Adaptive Web Designing (AWD</a:t>
            </a:r>
            <a:r>
              <a:rPr lang="en-US" dirty="0" smtClean="0"/>
              <a:t>).</a:t>
            </a:r>
            <a:endParaRPr lang="en-US" dirty="0" smtClean="0"/>
          </a:p>
          <a:p>
            <a:pPr>
              <a:buFont typeface="Wingdings" panose="05000000000000000000" pitchFamily="2" charset="2"/>
              <a:buChar char="q"/>
            </a:pPr>
            <a:endParaRPr lang="en-US" sz="36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It regarded as an integrated approach of  designing through which compelling and easy to use websites are built, to give an optimal viewing user experience across a wide variety of devices starting from desktop computers to mobile phones.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5840" y="0"/>
            <a:ext cx="8077200" cy="16002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2"/>
                </a:solidFill>
              </a:rPr>
              <a:t>Why You </a:t>
            </a:r>
            <a:r>
              <a:rPr lang="en-US" sz="4000" dirty="0" smtClean="0">
                <a:solidFill>
                  <a:schemeClr val="tx2"/>
                </a:solidFill>
              </a:rPr>
              <a:t>Need </a:t>
            </a:r>
            <a:r>
              <a:rPr lang="en-US" sz="4000" dirty="0" err="1" smtClean="0">
                <a:solidFill>
                  <a:schemeClr val="tx2"/>
                </a:solidFill>
              </a:rPr>
              <a:t>ResponsiveWebsite</a:t>
            </a:r>
            <a:r>
              <a:rPr lang="en-US" sz="4000" dirty="0" smtClean="0">
                <a:solidFill>
                  <a:schemeClr val="tx2"/>
                </a:solidFill>
              </a:rPr>
              <a:t>?</a:t>
            </a: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1371600"/>
            <a:ext cx="7498080" cy="48006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700" dirty="0" smtClean="0"/>
              <a:t>Growing Demand for Smartphones</a:t>
            </a:r>
            <a:endParaRPr lang="en-US" sz="2700" dirty="0" smtClean="0"/>
          </a:p>
          <a:p>
            <a:pPr>
              <a:buNone/>
            </a:pPr>
            <a:endParaRPr lang="en-US" sz="27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700" dirty="0"/>
              <a:t>Multiple Screen Sizes and Mobile Browsers</a:t>
            </a:r>
            <a:endParaRPr lang="en-US" sz="2700" dirty="0"/>
          </a:p>
          <a:p>
            <a:pPr>
              <a:buNone/>
            </a:pPr>
            <a:endParaRPr lang="en-US" sz="27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700" dirty="0"/>
              <a:t>Wide Usage of Internet</a:t>
            </a:r>
            <a:endParaRPr lang="en-US" sz="2700" dirty="0"/>
          </a:p>
          <a:p>
            <a:pPr>
              <a:buNone/>
            </a:pPr>
            <a:endParaRPr lang="en-US" sz="27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700" dirty="0"/>
              <a:t>Permits wider browser support </a:t>
            </a:r>
            <a:endParaRPr lang="en-US" sz="2700" dirty="0"/>
          </a:p>
          <a:p>
            <a:pPr>
              <a:buFont typeface="Wingdings" panose="05000000000000000000" pitchFamily="2" charset="2"/>
              <a:buChar char="v"/>
            </a:pPr>
            <a:endParaRPr lang="en-US" sz="27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700" dirty="0"/>
              <a:t>Compulsory for Getting Good Business</a:t>
            </a:r>
            <a:endParaRPr lang="en-US" sz="27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>
                <a:solidFill>
                  <a:schemeClr val="tx2"/>
                </a:solidFill>
              </a:rPr>
              <a:t>Adapting the Appropriate </a:t>
            </a:r>
            <a:r>
              <a:rPr lang="en-US" sz="4400" dirty="0" smtClean="0">
                <a:solidFill>
                  <a:schemeClr val="tx2"/>
                </a:solidFill>
              </a:rPr>
              <a:t>Layout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Designers should</a:t>
            </a:r>
            <a:r>
              <a:rPr lang="en-US" b="1" dirty="0"/>
              <a:t> </a:t>
            </a:r>
            <a:r>
              <a:rPr lang="en-US" dirty="0"/>
              <a:t>use appropriate layout to suit completely </a:t>
            </a:r>
            <a:r>
              <a:rPr lang="en-US" dirty="0" smtClean="0"/>
              <a:t>different  screen </a:t>
            </a:r>
            <a:r>
              <a:rPr lang="en-US" dirty="0"/>
              <a:t>sizes.</a:t>
            </a:r>
            <a:endParaRPr lang="en-US" dirty="0"/>
          </a:p>
          <a:p>
            <a:pPr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57400" y="2819400"/>
          <a:ext cx="6096000" cy="3276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048000"/>
                <a:gridCol w="3048000"/>
              </a:tblGrid>
              <a:tr h="546100"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Devices 	</a:t>
                      </a:r>
                      <a:endParaRPr lang="en-US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   Size</a:t>
                      </a:r>
                      <a:endParaRPr lang="en-US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  Phones		</a:t>
                      </a:r>
                      <a:endParaRPr lang="en-US" dirty="0"/>
                    </a:p>
                  </a:txBody>
                  <a:tcP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   480px  and  below</a:t>
                      </a:r>
                      <a:endParaRPr lang="en-US" dirty="0"/>
                    </a:p>
                  </a:txBody>
                  <a:tcPr/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lang="en-US" dirty="0" smtClean="0"/>
                        <a:t> </a:t>
                      </a:r>
                      <a:r>
                        <a:rPr lang="en-US" sz="1800" dirty="0" smtClean="0"/>
                        <a:t> Phones to Tablets	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</a:t>
                      </a:r>
                      <a:r>
                        <a:rPr lang="en-US" sz="1800" dirty="0" smtClean="0"/>
                        <a:t>767px  and  below</a:t>
                      </a:r>
                      <a:endParaRPr lang="en-US" dirty="0"/>
                    </a:p>
                  </a:txBody>
                  <a:tcPr/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lang="en-US" dirty="0" smtClean="0"/>
                        <a:t> </a:t>
                      </a:r>
                      <a:r>
                        <a:rPr lang="en-US" sz="1800" dirty="0" smtClean="0"/>
                        <a:t> Portrait Tablets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</a:t>
                      </a:r>
                      <a:r>
                        <a:rPr lang="en-US" sz="1800" dirty="0" smtClean="0"/>
                        <a:t>768px  and </a:t>
                      </a:r>
                      <a:r>
                        <a:rPr lang="en-US" sz="1800" baseline="0" dirty="0" smtClean="0"/>
                        <a:t> above</a:t>
                      </a:r>
                      <a:endParaRPr lang="en-US" dirty="0"/>
                    </a:p>
                  </a:txBody>
                  <a:tcPr/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lang="en-US" dirty="0" smtClean="0"/>
                        <a:t>  </a:t>
                      </a:r>
                      <a:r>
                        <a:rPr lang="en-US" sz="1800" dirty="0" smtClean="0"/>
                        <a:t>Net Book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</a:t>
                      </a:r>
                      <a:r>
                        <a:rPr lang="en-US" sz="1800" dirty="0" smtClean="0"/>
                        <a:t>767px  and </a:t>
                      </a:r>
                      <a:r>
                        <a:rPr lang="en-US" sz="1800" baseline="0" dirty="0" smtClean="0"/>
                        <a:t> 1024px</a:t>
                      </a:r>
                      <a:endParaRPr lang="en-US" dirty="0"/>
                    </a:p>
                  </a:txBody>
                  <a:tcPr/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lang="en-US" dirty="0" smtClean="0"/>
                        <a:t> </a:t>
                      </a:r>
                      <a:r>
                        <a:rPr lang="en-US" sz="1800" dirty="0" smtClean="0"/>
                        <a:t> Monitor	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</a:t>
                      </a:r>
                      <a:r>
                        <a:rPr lang="en-US" sz="1800" dirty="0" smtClean="0"/>
                        <a:t>1024px  and </a:t>
                      </a:r>
                      <a:r>
                        <a:rPr lang="en-US" sz="1800" baseline="0" dirty="0" smtClean="0"/>
                        <a:t> above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81000"/>
            <a:ext cx="7239000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7714488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Major Components of A Responsive Website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7800" y="1752600"/>
            <a:ext cx="7498080" cy="42672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600" dirty="0"/>
              <a:t>Responsive website designing is a modern approach of website designing. It comprises of four core elements</a:t>
            </a:r>
            <a:r>
              <a:rPr lang="en-US" sz="2600" dirty="0" smtClean="0"/>
              <a:t>.</a:t>
            </a:r>
            <a:endParaRPr lang="en-US" sz="2600" dirty="0"/>
          </a:p>
          <a:p>
            <a:pPr>
              <a:lnSpc>
                <a:spcPct val="150000"/>
              </a:lnSpc>
            </a:pPr>
            <a:r>
              <a:rPr lang="en-US" sz="2600" dirty="0" smtClean="0"/>
              <a:t> Meta Tags</a:t>
            </a:r>
            <a:endParaRPr lang="en-US" sz="2600" dirty="0"/>
          </a:p>
          <a:p>
            <a:pPr>
              <a:lnSpc>
                <a:spcPct val="150000"/>
              </a:lnSpc>
            </a:pPr>
            <a:r>
              <a:rPr lang="en-US" sz="2600" dirty="0" smtClean="0"/>
              <a:t> </a:t>
            </a:r>
            <a:r>
              <a:rPr lang="en-US" sz="2600" dirty="0"/>
              <a:t>Media </a:t>
            </a:r>
            <a:r>
              <a:rPr lang="en-US" sz="2600" dirty="0" smtClean="0"/>
              <a:t>Queries</a:t>
            </a:r>
            <a:endParaRPr lang="en-US" sz="2600" dirty="0"/>
          </a:p>
          <a:p>
            <a:pPr>
              <a:lnSpc>
                <a:spcPct val="150000"/>
              </a:lnSpc>
            </a:pPr>
            <a:r>
              <a:rPr lang="en-US" sz="2600" dirty="0"/>
              <a:t> </a:t>
            </a:r>
            <a:r>
              <a:rPr lang="en-US" sz="2600" dirty="0" smtClean="0"/>
              <a:t>Grid Systems</a:t>
            </a:r>
            <a:endParaRPr lang="en-US" sz="2600" dirty="0"/>
          </a:p>
          <a:p>
            <a:pPr>
              <a:lnSpc>
                <a:spcPct val="150000"/>
              </a:lnSpc>
            </a:pPr>
            <a:r>
              <a:rPr lang="en-US" sz="2600" dirty="0"/>
              <a:t> </a:t>
            </a:r>
            <a:r>
              <a:rPr lang="en-US" sz="2600" dirty="0" smtClean="0"/>
              <a:t>Frameworks</a:t>
            </a:r>
            <a:endParaRPr lang="en-US" sz="26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Meta Tags?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Meta tag is a coding statement in HTML.</a:t>
            </a:r>
            <a:endParaRPr lang="en-US" dirty="0"/>
          </a:p>
          <a:p>
            <a:pPr>
              <a:lnSpc>
                <a:spcPct val="120000"/>
              </a:lnSpc>
            </a:pP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It describes few aspects of the contents of a web page.</a:t>
            </a:r>
            <a:endParaRPr lang="en-US" dirty="0"/>
          </a:p>
          <a:p>
            <a:pPr>
              <a:lnSpc>
                <a:spcPct val="120000"/>
              </a:lnSpc>
            </a:pP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Information provided in the meta tags is used by the search engines for page indexation.</a:t>
            </a:r>
            <a:endParaRPr lang="en-US" dirty="0"/>
          </a:p>
          <a:p>
            <a:pPr>
              <a:lnSpc>
                <a:spcPct val="120000"/>
              </a:lnSpc>
              <a:buNone/>
            </a:pP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Placed at the top of a web page as a part of heading.</a:t>
            </a:r>
            <a:endParaRPr lang="en-US" dirty="0"/>
          </a:p>
          <a:p>
            <a:pPr>
              <a:lnSpc>
                <a:spcPct val="120000"/>
              </a:lnSpc>
            </a:pP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We use viewport meta tag for making a web page Mobile Optimized. See the example on next page.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      Types </a:t>
            </a:r>
            <a:r>
              <a:rPr lang="en-US" dirty="0"/>
              <a:t>of Meta </a:t>
            </a:r>
            <a:r>
              <a:rPr lang="en-US" dirty="0" smtClean="0"/>
              <a:t>Tags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1447800"/>
            <a:ext cx="7638288" cy="4800600"/>
          </a:xfrm>
        </p:spPr>
        <p:txBody>
          <a:bodyPr>
            <a:normAutofit fontScale="6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400" dirty="0"/>
              <a:t>There are three different meta tags that work for old, new, and modern hand held devices like mobiles (all types) and tablets.</a:t>
            </a:r>
            <a:endParaRPr lang="en-US" sz="3400" dirty="0"/>
          </a:p>
          <a:p>
            <a:pPr>
              <a:buNone/>
            </a:pPr>
            <a:endParaRPr lang="en-US" sz="3400" dirty="0"/>
          </a:p>
          <a:p>
            <a:pPr>
              <a:buNone/>
            </a:pPr>
            <a:r>
              <a:rPr lang="en-US" sz="3400" dirty="0"/>
              <a:t>  </a:t>
            </a:r>
            <a:r>
              <a:rPr lang="en-US" sz="3400" u="sng" dirty="0"/>
              <a:t>Example:</a:t>
            </a:r>
            <a:endParaRPr lang="en-US" sz="3400" u="sng" dirty="0"/>
          </a:p>
          <a:p>
            <a:pPr>
              <a:buNone/>
            </a:pPr>
            <a:r>
              <a:rPr lang="en-US" sz="3400" dirty="0"/>
              <a:t>  Put these 3 lines in the head section of your site.</a:t>
            </a:r>
            <a:endParaRPr lang="en-US" sz="3400" dirty="0"/>
          </a:p>
          <a:p>
            <a:pPr>
              <a:buNone/>
            </a:pPr>
            <a:endParaRPr lang="en-US" sz="3400" dirty="0"/>
          </a:p>
          <a:p>
            <a:pPr>
              <a:buNone/>
            </a:pPr>
            <a:r>
              <a:rPr lang="en-US" sz="3400" dirty="0"/>
              <a:t>   &lt;meta name=”</a:t>
            </a:r>
            <a:r>
              <a:rPr lang="en-US" sz="3400" dirty="0" err="1"/>
              <a:t>HandheldFriendly</a:t>
            </a:r>
            <a:r>
              <a:rPr lang="en-US" sz="3400" dirty="0"/>
              <a:t>” content=”true” /&gt;</a:t>
            </a:r>
            <a:endParaRPr lang="en-US" sz="3400" dirty="0"/>
          </a:p>
          <a:p>
            <a:pPr>
              <a:buNone/>
            </a:pPr>
            <a:r>
              <a:rPr lang="en-US" sz="3400" dirty="0"/>
              <a:t>   &lt;meta name=”</a:t>
            </a:r>
            <a:r>
              <a:rPr lang="en-US" sz="3400" dirty="0" err="1"/>
              <a:t>MobileOptimized</a:t>
            </a:r>
            <a:r>
              <a:rPr lang="en-US" sz="3400" dirty="0"/>
              <a:t>” content=”320” /&gt;</a:t>
            </a:r>
            <a:endParaRPr lang="en-US" sz="3400" dirty="0"/>
          </a:p>
          <a:p>
            <a:pPr>
              <a:buNone/>
            </a:pPr>
            <a:r>
              <a:rPr lang="en-US" sz="3400" dirty="0"/>
              <a:t>   &lt;meta name=”viewport” content=”width=device-width, initial-scale=1.0” /&gt;</a:t>
            </a:r>
            <a:endParaRPr lang="en-US" sz="3400" dirty="0"/>
          </a:p>
          <a:p>
            <a:pPr>
              <a:buNone/>
            </a:pPr>
            <a:endParaRPr lang="en-US" sz="34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3400" dirty="0"/>
              <a:t> A responsive designer needs to add these meta tags to make a website mobile optimized. </a:t>
            </a:r>
            <a:endParaRPr lang="en-US" sz="34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 Media Queries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600" dirty="0"/>
              <a:t> Media Queries consists of a media type and zero or an optional expression to assign different style-sheets depending on browser window size using media features such as width, height, orientation, resolution, pixel aspect ration, and color etc.</a:t>
            </a:r>
            <a:endParaRPr lang="en-US" sz="2600" dirty="0"/>
          </a:p>
          <a:p>
            <a:pPr>
              <a:buFont typeface="Wingdings" panose="05000000000000000000" pitchFamily="2" charset="2"/>
              <a:buChar char="q"/>
            </a:pPr>
            <a:endParaRPr lang="en-US" sz="26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/>
              <a:t> Using  media queries, presentations can be tailored to a specific range of output devices without changing the content itself.</a:t>
            </a:r>
            <a:endParaRPr lang="en-US" sz="2600" dirty="0"/>
          </a:p>
          <a:p>
            <a:pPr>
              <a:buFont typeface="Wingdings" panose="05000000000000000000" pitchFamily="2" charset="2"/>
              <a:buChar char="q"/>
            </a:pPr>
            <a:endParaRPr lang="en-US" sz="26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/>
              <a:t>You can use media queries in different ways for different reasons.</a:t>
            </a:r>
            <a:endParaRPr lang="en-US" sz="26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Example </a:t>
            </a:r>
            <a:r>
              <a:rPr lang="en-US" dirty="0"/>
              <a:t>of Media </a:t>
            </a:r>
            <a:r>
              <a:rPr lang="en-US" dirty="0" smtClean="0"/>
              <a:t>Queries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Likewise, you can use more advanced CSS media queries like:</a:t>
            </a: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@media all and (max-width: 699px) and (min-width: 520px), (min-width: 1151px)</a:t>
            </a:r>
            <a:endParaRPr lang="en-US" sz="2400" dirty="0"/>
          </a:p>
          <a:p>
            <a:pPr>
              <a:buNone/>
            </a:pPr>
            <a:r>
              <a:rPr lang="en-US" sz="2400" dirty="0"/>
              <a:t> {  </a:t>
            </a:r>
            <a:endParaRPr lang="en-US" sz="2400" dirty="0"/>
          </a:p>
          <a:p>
            <a:pPr>
              <a:buNone/>
            </a:pPr>
            <a:r>
              <a:rPr lang="en-US" sz="2400" dirty="0"/>
              <a:t>       body {    	</a:t>
            </a:r>
            <a:endParaRPr lang="en-US" sz="2400" dirty="0"/>
          </a:p>
          <a:p>
            <a:pPr>
              <a:buNone/>
            </a:pPr>
            <a:r>
              <a:rPr lang="en-US" sz="2400" dirty="0"/>
              <a:t>                     background: #ccc;  </a:t>
            </a:r>
            <a:endParaRPr lang="en-US" sz="2400" dirty="0"/>
          </a:p>
          <a:p>
            <a:pPr>
              <a:buNone/>
            </a:pPr>
            <a:r>
              <a:rPr lang="en-US" sz="2400" dirty="0"/>
              <a:t>        </a:t>
            </a:r>
            <a:r>
              <a:rPr lang="en-US" sz="2400" dirty="0" smtClean="0"/>
              <a:t>       </a:t>
            </a:r>
            <a:r>
              <a:rPr lang="en-US" sz="2400" dirty="0"/>
              <a:t>}</a:t>
            </a:r>
            <a:endParaRPr lang="en-US" sz="2400" dirty="0"/>
          </a:p>
          <a:p>
            <a:pPr>
              <a:buNone/>
            </a:pPr>
            <a:r>
              <a:rPr lang="en-US" sz="2400" dirty="0"/>
              <a:t>   }</a:t>
            </a:r>
            <a:endParaRPr lang="en-US" sz="2400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A Grid System?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100" dirty="0"/>
              <a:t>Grids are the simplest, strongest, and quick way to create page layouts. A grid is a set of number of  “columns” and intervening  “gutters” (margins) inside a “container” with any width and flexibility.</a:t>
            </a:r>
            <a:endParaRPr lang="en-US" sz="3100" dirty="0"/>
          </a:p>
          <a:p>
            <a:pPr>
              <a:buFont typeface="Wingdings" panose="05000000000000000000" pitchFamily="2" charset="2"/>
              <a:buChar char="q"/>
            </a:pPr>
            <a:endParaRPr lang="en-US" sz="31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3100" dirty="0"/>
              <a:t>It gives a feeling of considered organization of one’s website.</a:t>
            </a:r>
            <a:endParaRPr lang="en-US" sz="3100" dirty="0"/>
          </a:p>
          <a:p>
            <a:pPr>
              <a:buFont typeface="Wingdings" panose="05000000000000000000" pitchFamily="2" charset="2"/>
              <a:buChar char="q"/>
            </a:pPr>
            <a:endParaRPr lang="en-US" sz="31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3100" dirty="0"/>
              <a:t>In the words of Josef Muller </a:t>
            </a:r>
            <a:r>
              <a:rPr lang="en-US" sz="3100" dirty="0" err="1"/>
              <a:t>Brockmann</a:t>
            </a:r>
            <a:r>
              <a:rPr lang="en-US" sz="3100" dirty="0"/>
              <a:t>,” The grid system is an aid, not a guarantee. It permits a number of possible uses and each designer can look for a solution appropriate to his personal style. But one must learn how to use the grid; it is an art that requires practice.”</a:t>
            </a:r>
            <a:endParaRPr lang="en-US" sz="31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Useful Frameworks of </a:t>
            </a:r>
            <a:r>
              <a:rPr lang="en-US" dirty="0" smtClean="0"/>
              <a:t>RWD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400" dirty="0"/>
              <a:t>Frameworks can be defined as a set of tools, libraries, conventions and best practices that enable the designers to cut down their routine tasks into reusable generic modules.</a:t>
            </a:r>
            <a:endParaRPr lang="en-US" sz="3400" dirty="0"/>
          </a:p>
          <a:p>
            <a:pPr>
              <a:buFont typeface="Wingdings" panose="05000000000000000000" pitchFamily="2" charset="2"/>
              <a:buChar char="q"/>
            </a:pPr>
            <a:endParaRPr lang="en-US" sz="34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3400" dirty="0"/>
              <a:t> CSS3 frameworks provide following benefits to web designers and developers: </a:t>
            </a:r>
            <a:endParaRPr lang="en-US" sz="3400" dirty="0"/>
          </a:p>
          <a:p>
            <a:pPr>
              <a:buNone/>
            </a:pPr>
            <a:endParaRPr lang="en-US" sz="3400" dirty="0"/>
          </a:p>
          <a:p>
            <a:pPr marL="575945" lvl="0" indent="-457200">
              <a:buNone/>
            </a:pPr>
            <a:r>
              <a:rPr lang="en-US" sz="3400" dirty="0"/>
              <a:t>  </a:t>
            </a:r>
            <a:r>
              <a:rPr lang="en-US" sz="3400" dirty="0" smtClean="0"/>
              <a:t> 1</a:t>
            </a:r>
            <a:r>
              <a:rPr lang="en-US" sz="3400" dirty="0"/>
              <a:t>. Faster designing and building of websites.</a:t>
            </a:r>
            <a:endParaRPr lang="en-US" sz="3400" dirty="0"/>
          </a:p>
          <a:p>
            <a:pPr marL="575945" lvl="0" indent="-457200">
              <a:buNone/>
            </a:pPr>
            <a:endParaRPr lang="en-US" sz="3400" dirty="0"/>
          </a:p>
          <a:p>
            <a:pPr marL="575945" lvl="0" indent="-457200">
              <a:buNone/>
            </a:pPr>
            <a:r>
              <a:rPr lang="en-US" sz="3400" dirty="0"/>
              <a:t>  </a:t>
            </a:r>
            <a:r>
              <a:rPr lang="en-US" sz="3400" dirty="0" smtClean="0"/>
              <a:t>2</a:t>
            </a:r>
            <a:r>
              <a:rPr lang="en-US" sz="3400" dirty="0"/>
              <a:t>. Designers can focus on crucial segments of website building-</a:t>
            </a:r>
            <a:endParaRPr lang="en-US" sz="3400" dirty="0"/>
          </a:p>
          <a:p>
            <a:pPr marL="575945" lvl="0" indent="-457200">
              <a:buNone/>
            </a:pPr>
            <a:r>
              <a:rPr lang="en-US" sz="3400" dirty="0"/>
              <a:t>   </a:t>
            </a:r>
            <a:r>
              <a:rPr lang="en-US" sz="3400" dirty="0" smtClean="0"/>
              <a:t> </a:t>
            </a:r>
            <a:r>
              <a:rPr lang="en-US" sz="3400" dirty="0"/>
              <a:t>using a grid, including a print style sheet, browser compliance, </a:t>
            </a:r>
            <a:endParaRPr lang="en-US" sz="3400" dirty="0"/>
          </a:p>
          <a:p>
            <a:pPr marL="575945" lvl="0" indent="-457200">
              <a:buNone/>
            </a:pPr>
            <a:r>
              <a:rPr lang="en-US" sz="3400" dirty="0"/>
              <a:t>   </a:t>
            </a:r>
            <a:r>
              <a:rPr lang="en-US" sz="3400" dirty="0" smtClean="0"/>
              <a:t> </a:t>
            </a:r>
            <a:r>
              <a:rPr lang="en-US" sz="3400" dirty="0"/>
              <a:t>creation of multiple </a:t>
            </a:r>
            <a:r>
              <a:rPr lang="en-US" sz="3400" dirty="0" err="1"/>
              <a:t>layouts,etc</a:t>
            </a:r>
            <a:r>
              <a:rPr lang="en-US" sz="3400" dirty="0"/>
              <a:t>.</a:t>
            </a:r>
            <a:endParaRPr lang="en-US" sz="34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Some Common </a:t>
            </a:r>
            <a:r>
              <a:rPr lang="en-US" dirty="0" smtClean="0"/>
              <a:t>Frameworks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7800" y="838200"/>
            <a:ext cx="7498080" cy="48006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endParaRPr lang="en-US" sz="2400" dirty="0" smtClean="0"/>
          </a:p>
          <a:p>
            <a:pPr>
              <a:buFont typeface="Wingdings" panose="05000000000000000000" pitchFamily="2" charset="2"/>
              <a:buChar char="q"/>
            </a:pPr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 smtClean="0"/>
              <a:t>Following </a:t>
            </a:r>
            <a:r>
              <a:rPr lang="en-US" sz="2400" dirty="0"/>
              <a:t>are the popular frameworks that web designers and developers used to develop responsive websites</a:t>
            </a:r>
            <a:r>
              <a:rPr lang="en-US" sz="2400" dirty="0" smtClean="0"/>
              <a:t>:</a:t>
            </a:r>
            <a:endParaRPr lang="en-US" sz="2400" dirty="0" smtClean="0"/>
          </a:p>
          <a:p>
            <a:pPr>
              <a:buFont typeface="Wingdings" panose="05000000000000000000" pitchFamily="2" charset="2"/>
              <a:buChar char="q"/>
            </a:pPr>
            <a:endParaRPr lang="en-US" sz="2400" dirty="0"/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 smtClean="0"/>
              <a:t>Skeleton</a:t>
            </a:r>
            <a:endParaRPr lang="en-US" sz="2400" dirty="0"/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 smtClean="0"/>
              <a:t>Foundation</a:t>
            </a:r>
            <a:endParaRPr lang="en-US" sz="2400" dirty="0"/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Bootstrap</a:t>
            </a:r>
            <a:endParaRPr lang="en-US" sz="2400" dirty="0"/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27709"/>
            <a:ext cx="7498080" cy="1143000"/>
          </a:xfrm>
        </p:spPr>
        <p:txBody>
          <a:bodyPr>
            <a:normAutofit/>
          </a:bodyPr>
          <a:lstStyle/>
          <a:p>
            <a:r>
              <a:rPr lang="en-US" dirty="0"/>
              <a:t>Advantages to the </a:t>
            </a:r>
            <a:r>
              <a:rPr lang="en-US" dirty="0" smtClean="0"/>
              <a:t>Users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219200"/>
            <a:ext cx="7790688" cy="4800600"/>
          </a:xfrm>
        </p:spPr>
        <p:txBody>
          <a:bodyPr>
            <a:normAutofit fontScale="250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8000" dirty="0"/>
              <a:t>Using Smartphone, Tablets, and Notebooks for accessing internet has become a common fashion or trend. A popularity or charm had been seen among the users for responsive sites as it serve the following advantages. </a:t>
            </a:r>
            <a:endParaRPr lang="en-US" sz="8000" dirty="0"/>
          </a:p>
          <a:p>
            <a:pPr>
              <a:buNone/>
            </a:pPr>
            <a:endParaRPr lang="en-US" sz="80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8000" dirty="0"/>
              <a:t>A Responsive website is flexible to use.</a:t>
            </a:r>
            <a:endParaRPr lang="en-US" sz="8000" dirty="0"/>
          </a:p>
          <a:p>
            <a:pPr>
              <a:buNone/>
            </a:pPr>
            <a:endParaRPr lang="en-US" sz="80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8000" dirty="0"/>
              <a:t>It automatically shuffles content, resizes images, and adjusts font size.</a:t>
            </a:r>
            <a:endParaRPr lang="en-US" sz="8000" dirty="0"/>
          </a:p>
          <a:p>
            <a:pPr>
              <a:buFont typeface="Wingdings" panose="05000000000000000000" pitchFamily="2" charset="2"/>
              <a:buChar char="v"/>
            </a:pPr>
            <a:endParaRPr lang="en-US" sz="80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8000" dirty="0"/>
              <a:t>Users are able to read information as per their needs and preferences.</a:t>
            </a:r>
            <a:endParaRPr lang="en-US" sz="8000" dirty="0"/>
          </a:p>
          <a:p>
            <a:pPr>
              <a:buNone/>
            </a:pPr>
            <a:endParaRPr lang="en-US" sz="80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8000" dirty="0"/>
              <a:t>Helps encountering fast and intelligent sites.</a:t>
            </a:r>
            <a:endParaRPr lang="en-US" sz="8000" dirty="0"/>
          </a:p>
          <a:p>
            <a:pPr>
              <a:buFont typeface="Wingdings" panose="05000000000000000000" pitchFamily="2" charset="2"/>
              <a:buChar char="v"/>
            </a:pPr>
            <a:endParaRPr lang="en-US" sz="80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8000" dirty="0"/>
              <a:t>Saves user’s time while browsing the site.</a:t>
            </a:r>
            <a:endParaRPr lang="en-US" sz="8000" dirty="0"/>
          </a:p>
          <a:p>
            <a:pPr>
              <a:buNone/>
            </a:pPr>
            <a:endParaRPr lang="en-US" sz="80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8000" dirty="0"/>
              <a:t>Helps increasing the user experience.</a:t>
            </a:r>
            <a:endParaRPr lang="en-US" sz="80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927"/>
            <a:ext cx="749808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Advantages to the Web Designers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7800" y="1219200"/>
            <a:ext cx="7498080" cy="50292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Responsive websites has changed the overall outlook of web industry. It </a:t>
            </a:r>
            <a:r>
              <a:rPr lang="en-US" sz="2400" dirty="0" smtClean="0"/>
              <a:t>extends </a:t>
            </a:r>
            <a:r>
              <a:rPr lang="en-US" sz="2400" dirty="0"/>
              <a:t>numerous benefits to the web designers and the company at large</a:t>
            </a:r>
            <a:r>
              <a:rPr lang="en-US" sz="2400" dirty="0" smtClean="0"/>
              <a:t>.</a:t>
            </a:r>
            <a:endParaRPr lang="en-US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Simplifies the designing </a:t>
            </a:r>
            <a:r>
              <a:rPr lang="en-US" sz="2400" dirty="0" smtClean="0"/>
              <a:t>process</a:t>
            </a:r>
            <a:endParaRPr lang="en-US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Saves time and </a:t>
            </a:r>
            <a:r>
              <a:rPr lang="en-US" sz="2400" dirty="0" smtClean="0"/>
              <a:t>efforts</a:t>
            </a:r>
            <a:endParaRPr lang="en-US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Reduces capital </a:t>
            </a:r>
            <a:r>
              <a:rPr lang="en-US" sz="2400" dirty="0" smtClean="0"/>
              <a:t>employed</a:t>
            </a:r>
            <a:endParaRPr lang="en-US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Eliminates the need to maintain multiple </a:t>
            </a:r>
            <a:r>
              <a:rPr lang="en-US" sz="2400" dirty="0" smtClean="0"/>
              <a:t>websites</a:t>
            </a:r>
            <a:endParaRPr lang="en-US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Minimizes maintenance and development cost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Conclusion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p>
            <a:r>
              <a:rPr lang="en-US"/>
              <a:t>It has been and always be challenging to keep your website design up to different device sizes and resolutions. </a:t>
            </a:r>
            <a:endParaRPr lang="en-US"/>
          </a:p>
          <a:p>
            <a:r>
              <a:rPr lang="en-US"/>
              <a:t>A responsive website, if developed properly,adapts to different device sizes, enhances user experience, is mobile-friendly, and is ready for future devices. </a:t>
            </a:r>
            <a:endParaRPr lang="en-US"/>
          </a:p>
          <a:p>
            <a:r>
              <a:rPr lang="en-US"/>
              <a:t>This all has been possible due to three basic buildingblocks of Responsive Web Design (RWD) i.e. media queries, flexible/ scalablemedia (images and videos), and most importantly fluid/ flexible grids.</a:t>
            </a: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E:\maxeffectmarketing.com_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508" y="304800"/>
            <a:ext cx="7439892" cy="4024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D:\adminpooja\New folder\New folder\responsive-web-06-en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4038600"/>
            <a:ext cx="7488555" cy="2286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 My Design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735" y="1524000"/>
            <a:ext cx="6968490" cy="5094605"/>
          </a:xfrm>
        </p:spPr>
        <p:txBody>
          <a:bodyPr>
            <a:normAutofit fontScale="90000" lnSpcReduction="10000"/>
          </a:bodyPr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marL="82550" indent="0">
              <a:buNone/>
            </a:pPr>
            <a:r>
              <a:rPr lang="en-US">
                <a:sym typeface="+mn-ea"/>
              </a:rPr>
              <a:t>                 </a:t>
            </a:r>
            <a:endParaRPr lang="en-US">
              <a:sym typeface="+mn-ea"/>
            </a:endParaRPr>
          </a:p>
          <a:p>
            <a:pPr marL="82550" indent="0">
              <a:buNone/>
            </a:pPr>
            <a:endParaRPr lang="en-US">
              <a:sym typeface="+mn-ea"/>
            </a:endParaRPr>
          </a:p>
          <a:p>
            <a:pPr marL="82550" indent="0">
              <a:buNone/>
            </a:pPr>
            <a:endParaRPr lang="en-US">
              <a:sym typeface="+mn-ea"/>
            </a:endParaRPr>
          </a:p>
          <a:p>
            <a:pPr marL="82550" indent="0">
              <a:buNone/>
            </a:pPr>
            <a:r>
              <a:rPr lang="en-US">
                <a:sym typeface="+mn-ea"/>
              </a:rPr>
              <a:t>                           </a:t>
            </a:r>
            <a:r>
              <a:rPr lang="en-US" b="1">
                <a:sym typeface="+mn-ea"/>
              </a:rPr>
              <a:t> Web View</a:t>
            </a:r>
            <a:endParaRPr lang="en-US" b="1"/>
          </a:p>
        </p:txBody>
      </p:sp>
      <p:pic>
        <p:nvPicPr>
          <p:cNvPr id="6" name="Content Placeholder 5" descr="Screenshot (9)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355090" y="1494155"/>
            <a:ext cx="7499985" cy="45186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         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735" y="1524000"/>
            <a:ext cx="7625715" cy="5133975"/>
          </a:xfrm>
        </p:spPr>
        <p:txBody>
          <a:bodyPr>
            <a:normAutofit lnSpcReduction="10000"/>
          </a:bodyPr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marL="82550" indent="0">
              <a:buNone/>
            </a:pPr>
            <a:r>
              <a:rPr lang="en-US"/>
              <a:t> </a:t>
            </a:r>
            <a:endParaRPr lang="en-US"/>
          </a:p>
          <a:p>
            <a:pPr marL="82550" indent="0">
              <a:buNone/>
            </a:pPr>
            <a:r>
              <a:rPr lang="en-US" sz="2000"/>
              <a:t>     Mobile -View(360 x 640px </a:t>
            </a:r>
            <a:r>
              <a:rPr lang="en-US" sz="2000"/>
              <a:t>)          Ipad- View(768 x 1024 px)                 </a:t>
            </a:r>
            <a:endParaRPr lang="en-US" sz="200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endParaRPr lang="en-US"/>
          </a:p>
        </p:txBody>
      </p:sp>
      <p:pic>
        <p:nvPicPr>
          <p:cNvPr id="5" name="Picture 4" descr="Screenshot (1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447800"/>
            <a:ext cx="3052445" cy="45402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 descr="Screenshot (12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215" y="1143000"/>
            <a:ext cx="3657600" cy="48672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629" y="2438400"/>
            <a:ext cx="7498080" cy="1143000"/>
          </a:xfrm>
        </p:spPr>
        <p:txBody>
          <a:bodyPr>
            <a:noAutofit/>
          </a:bodyPr>
          <a:lstStyle/>
          <a:p>
            <a:r>
              <a:rPr lang="en-US" sz="8800" dirty="0" smtClean="0"/>
              <a:t>   Thanks You</a:t>
            </a:r>
            <a:endParaRPr lang="en-US" sz="88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0</TotalTime>
  <Words>5699</Words>
  <Application>WPS Presentation</Application>
  <PresentationFormat>On-screen Show (4:3)</PresentationFormat>
  <Paragraphs>224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1" baseType="lpstr">
      <vt:lpstr>Arial</vt:lpstr>
      <vt:lpstr>SimSun</vt:lpstr>
      <vt:lpstr>Wingdings</vt:lpstr>
      <vt:lpstr>Wingdings 2</vt:lpstr>
      <vt:lpstr>Verdana</vt:lpstr>
      <vt:lpstr>Gill Sans MT</vt:lpstr>
      <vt:lpstr>Microsoft YaHei</vt:lpstr>
      <vt:lpstr>Arial Unicode MS</vt:lpstr>
      <vt:lpstr>Calibri</vt:lpstr>
      <vt:lpstr>Solstice</vt:lpstr>
      <vt:lpstr> Multi-Page Responsive Website </vt:lpstr>
      <vt:lpstr>Contents</vt:lpstr>
      <vt:lpstr>What is Responsive Web Design? </vt:lpstr>
      <vt:lpstr>Why You Need ResponsiveWebsite?</vt:lpstr>
      <vt:lpstr>Adapting the Appropriate Layout</vt:lpstr>
      <vt:lpstr>PowerPoint 演示文稿</vt:lpstr>
      <vt:lpstr>Major Components of A Responsive Website</vt:lpstr>
      <vt:lpstr>What are Meta Tags?</vt:lpstr>
      <vt:lpstr>       Types of Meta Tags</vt:lpstr>
      <vt:lpstr>What are  Media Queries ?</vt:lpstr>
      <vt:lpstr>Example of Media Queries</vt:lpstr>
      <vt:lpstr>What is A Grid System?  </vt:lpstr>
      <vt:lpstr>Useful Frameworks of RWD</vt:lpstr>
      <vt:lpstr>Some Common Frameworks</vt:lpstr>
      <vt:lpstr>Advantages to the Users</vt:lpstr>
      <vt:lpstr>Advantages to the Web Designers </vt:lpstr>
      <vt:lpstr>Conclusion</vt:lpstr>
      <vt:lpstr>PowerPoint 演示文稿</vt:lpstr>
      <vt:lpstr> My Design</vt:lpstr>
      <vt:lpstr>          </vt:lpstr>
      <vt:lpstr>   Thanks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Gifts360</dc:title>
  <dc:creator>GONTHINA VIKRAM</dc:creator>
  <cp:lastModifiedBy>csc lab</cp:lastModifiedBy>
  <cp:revision>14</cp:revision>
  <dcterms:created xsi:type="dcterms:W3CDTF">2021-09-28T16:55:00Z</dcterms:created>
  <dcterms:modified xsi:type="dcterms:W3CDTF">2021-09-29T12:33:43Z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480810B17F9D4C93BD0464D69643349B</vt:lpwstr>
  </property>
  <property fmtid="{D5CDD505-2E9C-101B-9397-08002B2CF9AE}" pid="3" name="KSOProductBuildVer">
    <vt:lpwstr>1033-11.2.0.10323</vt:lpwstr>
  </property>
</Properties>
</file>